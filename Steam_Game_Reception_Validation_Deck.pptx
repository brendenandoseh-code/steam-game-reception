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2de32708877432d" Type="http://schemas.openxmlformats.org/officeDocument/2006/relationships/extended-properties" Target="docProps/app.xml"/><Relationship Id="R6cd19666fb3347d2" Type="http://schemas.openxmlformats.org/officeDocument/2006/relationships/officeDocument" Target="ppt/presentation.xml"/><Relationship Id="Rf77c6fe92ddf4e9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6dbdd6a0bb4d3d"/>
  </p:sldMasterIdLst>
  <p:notesMasterIdLst>
    <p:notesMasterId xmlns:r="http://schemas.openxmlformats.org/officeDocument/2006/relationships" r:id="R8c93886f6f3d4d60"/>
  </p:notesMasterIdLst>
  <p:sldIdLst>
    <p:sldId xmlns:r="http://schemas.openxmlformats.org/officeDocument/2006/relationships" id="256" r:id="Raa8e1f6ef6e44ef1"/>
    <p:sldId xmlns:r="http://schemas.openxmlformats.org/officeDocument/2006/relationships" id="257" r:id="Rc9b41b43fa4f4b68"/>
    <p:sldId xmlns:r="http://schemas.openxmlformats.org/officeDocument/2006/relationships" id="258" r:id="Ra578099ba4754b14"/>
    <p:sldId xmlns:r="http://schemas.openxmlformats.org/officeDocument/2006/relationships" id="259" r:id="R7c90469503a34f96"/>
    <p:sldId xmlns:r="http://schemas.openxmlformats.org/officeDocument/2006/relationships" id="260" r:id="R9005992031be40fa"/>
    <p:sldId xmlns:r="http://schemas.openxmlformats.org/officeDocument/2006/relationships" id="261" r:id="R5a3cf8507aed48b2"/>
    <p:sldId xmlns:r="http://schemas.openxmlformats.org/officeDocument/2006/relationships" id="262" r:id="R3fe3f7d202014c93"/>
    <p:sldId xmlns:r="http://schemas.openxmlformats.org/officeDocument/2006/relationships" id="263" r:id="R1ec4223902864652"/>
    <p:sldId xmlns:ns0="http://schemas.openxmlformats.org/officeDocument/2006/relationships" id="268" ns0:id="rId18"/>
    <p:sldId xmlns:r="http://schemas.openxmlformats.org/officeDocument/2006/relationships" id="267" r:id="Rb7e41c9d02f84a15"/>
    <p:sldId xmlns:r="http://schemas.openxmlformats.org/officeDocument/2006/relationships" id="264" r:id="Ra85f8edc79904ec5"/>
    <p:sldId xmlns:r="http://schemas.openxmlformats.org/officeDocument/2006/relationships" id="265" r:id="R5c47a2c827af4b4c"/>
    <p:sldId xmlns:r="http://schemas.openxmlformats.org/officeDocument/2006/relationships" id="266" r:id="R4a95e17721c94f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c4223902864652" Type="http://schemas.openxmlformats.org/officeDocument/2006/relationships/slide" Target="slides/slide8.xml"/><Relationship Id="R3fe3f7d202014c93" Type="http://schemas.openxmlformats.org/officeDocument/2006/relationships/slide" Target="slides/slide7.xml"/><Relationship Id="R4a95e17721c94fdb" Type="http://schemas.openxmlformats.org/officeDocument/2006/relationships/slide" Target="slides/slide13.xml"/><Relationship Id="R536dbdd6a0bb4d3d" Type="http://schemas.openxmlformats.org/officeDocument/2006/relationships/slideMaster" Target="slideMasters/slideMaster1.xml"/><Relationship Id="R5a3cf8507aed48b2" Type="http://schemas.openxmlformats.org/officeDocument/2006/relationships/slide" Target="slides/slide6.xml"/><Relationship Id="R5c47a2c827af4b4c" Type="http://schemas.openxmlformats.org/officeDocument/2006/relationships/slide" Target="slides/slide12.xml"/><Relationship Id="R74c7d7e00f41458c" Type="http://schemas.openxmlformats.org/officeDocument/2006/relationships/tableStyles" Target="tableStyles.xml"/><Relationship Id="R7c90469503a34f96" Type="http://schemas.openxmlformats.org/officeDocument/2006/relationships/slide" Target="slides/slide4.xml"/><Relationship Id="R8c93886f6f3d4d60" Type="http://schemas.openxmlformats.org/officeDocument/2006/relationships/notesMaster" Target="notesMasters/notesMaster1.xml"/><Relationship Id="R9005992031be40fa" Type="http://schemas.openxmlformats.org/officeDocument/2006/relationships/slide" Target="slides/slide5.xml"/><Relationship Id="Ra578099ba4754b14" Type="http://schemas.openxmlformats.org/officeDocument/2006/relationships/slide" Target="slides/slide3.xml"/><Relationship Id="Ra85f8edc79904ec5" Type="http://schemas.openxmlformats.org/officeDocument/2006/relationships/slide" Target="slides/slide10.xml"/><Relationship Id="Raa8e1f6ef6e44ef1" Type="http://schemas.openxmlformats.org/officeDocument/2006/relationships/slide" Target="slides/slide1.xml"/><Relationship Id="Rb7e41c9d02f84a15" Type="http://schemas.openxmlformats.org/officeDocument/2006/relationships/slide" Target="slides/slide9.xml"/><Relationship Id="Rc023f7b7315a4238" Type="http://schemas.openxmlformats.org/officeDocument/2006/relationships/presProps" Target="presProps.xml"/><Relationship Id="Rc9b41b43fa4f4b68" Type="http://schemas.openxmlformats.org/officeDocument/2006/relationships/slide" Target="slides/slide2.xml"/><Relationship Id="Rda1c62367dc54d04" Type="http://schemas.openxmlformats.org/officeDocument/2006/relationships/theme" Target="theme/theme1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616d9eba5b4b4ba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7fd3856cd7d43f0" Type="http://schemas.openxmlformats.org/officeDocument/2006/relationships/slide" Target="../slides/slide1.xml"/><Relationship Id="Rf36911c27d7f471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ef8b66f2067045d9" Type="http://schemas.openxmlformats.org/officeDocument/2006/relationships/slide" Target="../slides/slide2.xml"/><Relationship Id="Rfd6d4f75576e4e2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f9d4bba618042e5" Type="http://schemas.openxmlformats.org/officeDocument/2006/relationships/slide" Target="../slides/slide3.xml"/><Relationship Id="Rffbbe0aa1aeb48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74882cddf944b29" Type="http://schemas.openxmlformats.org/officeDocument/2006/relationships/slide" Target="../slides/slide4.xml"/><Relationship Id="R2b67efb378a24eb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e1f0bdb398444b6" Type="http://schemas.openxmlformats.org/officeDocument/2006/relationships/notesMaster" Target="../notesMasters/notesMaster1.xml"/><Relationship Id="R7f7b60d669c0484e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481a629a6eb4562" Type="http://schemas.openxmlformats.org/officeDocument/2006/relationships/slide" Target="../slides/slide6.xml"/><Relationship Id="Rae4ee88a4333406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9e8f094eaac4109" Type="http://schemas.openxmlformats.org/officeDocument/2006/relationships/notesMaster" Target="../notesMasters/notesMaster1.xml"/><Relationship Id="R3e226e5b34684f68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cfdf9a9fef8e4488" Type="http://schemas.openxmlformats.org/officeDocument/2006/relationships/notesMaster" Target="../notesMasters/notesMaster1.xml"/><Relationship Id="Re6bfe79cf70b473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e5a9aa2ee8f41ad" Type="http://schemas.openxmlformats.org/officeDocument/2006/relationships/notesMaster" Target="../notesMasters/notesMaster1.xml"/><Relationship Id="R67519e4766584dcd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9487351e21fd419f" Type="http://schemas.openxmlformats.org/officeDocument/2006/relationships/slide" Target="../slides/slide12.xml"/><Relationship Id="Rb17529b211b7405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6a6fbb201434dce" Type="http://schemas.openxmlformats.org/officeDocument/2006/relationships/slide" Target="../slides/slide13.xml"/><Relationship Id="Rd22172e789564fd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Portfolio_Projects/steam-game-reception/README.md</a:t>
            </a:r>
          </a:p>
          <a:p xmlns:a="http://schemas.openxmlformats.org/drawingml/2006/main">
            <a:r>
              <a:t>- Portfolio_Projects/steam-game-reception/outputs/denominators.csv</a:t>
            </a:r>
          </a:p>
          <a:p xmlns:a="http://schemas.openxmlformats.org/drawingml/2006/main">
            <a:r>
              <a:t>- Portfolio_Projects/steam-game-reception/outputs/coded_negatives.csv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Portfolio_Projects/steam-game-reception/SCOPE.md</a:t>
            </a:r>
          </a:p>
          <a:p xmlns:a="http://schemas.openxmlformats.org/drawingml/2006/main">
            <a:r>
              <a:t>- Portfolio_Projects/steam-game-reception/CODEBOOK.md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Portfolio_Projects/steam-game-reception/outputs/denominators.csv</a:t>
            </a:r>
          </a:p>
          <a:p xmlns:a="http://schemas.openxmlformats.org/drawingml/2006/main">
            <a:r>
              <a:t>- Portfolio_Projects/steam-game-reception/outputs/coded_negatives.csv</a:t>
            </a:r>
          </a:p>
          <a:p xmlns:a="http://schemas.openxmlformats.org/drawingml/2006/main">
            <a:r>
              <a:t>- Portfolio_Projects/steam-game-reception/visuals/03_reconciliation.png</a:t>
            </a:r>
          </a:p>
          <a:p xmlns:a="http://schemas.openxmlformats.org/drawingml/2006/main">
            <a:r>
              <a:t>- Portfolio_Projects/steam-game-reception/SCOPE.md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Portfolio_Projects/steam-game-reception/outputs/temporal_coverage.csv</a:t>
            </a:r>
          </a:p>
          <a:p xmlns:a="http://schemas.openxmlformats.org/drawingml/2006/main">
            <a:r>
              <a:t>- Portfolio_Projects/steam-game-reception/visuals/01_temporal_coverage.png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Portfolio_Projects/steam-game-reception/outputs/sampling_bias.csv</a:t>
            </a:r>
          </a:p>
          <a:p xmlns:a="http://schemas.openxmlformats.org/drawingml/2006/main">
            <a:r>
              <a:t>- Portfolio_Projects/steam-game-reception/visuals/02_sampling_bias.png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Portfolio_Projects/steam-game-reception/outputs/comparison_set.csv</a:t>
            </a:r>
          </a:p>
          <a:p xmlns:a="http://schemas.openxmlformats.org/drawingml/2006/main">
            <a:r>
              <a:t>- Portfolio_Projects/steam-game-reception/visuals/04_clustering.png</a:t>
            </a:r>
          </a:p>
          <a:p xmlns:a="http://schemas.openxmlformats.org/drawingml/2006/main">
            <a:r>
              <a:t>- Portfolio_Projects/steam-game-reception/README.md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Portfolio_Projects/steam-game-reception/outputs/validation_metrics.csv</a:t>
            </a:r>
          </a:p>
          <a:p xmlns:a="http://schemas.openxmlformats.org/drawingml/2006/main">
            <a:r>
              <a:t>- Portfolio_Projects/steam-game-reception/outputs/reference_manifest.json</a:t>
            </a:r>
          </a:p>
          <a:p xmlns:a="http://schemas.openxmlformats.org/drawingml/2006/main">
            <a:r>
              <a:t>- Portfolio_Projects/steam-game-reception/src/12_metrics.py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Portfolio_Projects/steam-game-reception/outputs/validation_metrics.csv</a:t>
            </a:r>
          </a:p>
          <a:p xmlns:a="http://schemas.openxmlformats.org/drawingml/2006/main">
            <a:r>
              <a:t>- Portfolio_Projects/steam-game-reception/CODEBOOK.md</a:t>
            </a:r>
          </a:p>
          <a:p xmlns:a="http://schemas.openxmlformats.org/drawingml/2006/main">
            <a:r>
              <a:t>- Portfolio_Projects/steam-game-reception/README.md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Portfolio_Projects/steam-game-reception/outputs/codex_ai_spotcheck_summary.json</a:t>
            </a:r>
          </a:p>
          <a:p xmlns:a="http://schemas.openxmlformats.org/drawingml/2006/main">
            <a:r>
              <a:t>- Portfolio_Projects/steam-game-reception/outputs/codex_ai_spotcheck_agreement.csv</a:t>
            </a:r>
          </a:p>
          <a:p xmlns:a="http://schemas.openxmlformats.org/drawingml/2006/main">
            <a:r>
              <a:t>- Portfolio_Projects/ANALYST_OPERATING_SYSTEM.md section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Portfolio_Projects/steam-game-reception/README.md</a:t>
            </a:r>
          </a:p>
          <a:p xmlns:a="http://schemas.openxmlformats.org/drawingml/2006/main">
            <a:r>
              <a:t>- Portfolio_Projects/steam-game-reception/CODEBOOK.md</a:t>
            </a:r>
          </a:p>
          <a:p xmlns:a="http://schemas.openxmlformats.org/drawingml/2006/main">
            <a:r>
              <a:t>- Portfolio_Projects/ANALYST_OPERATING_SYSTEM.md section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Portfolio_Projects/steam-game-reception/outputs/freeze_manifest.json</a:t>
            </a:r>
          </a:p>
          <a:p xmlns:a="http://schemas.openxmlformats.org/drawingml/2006/main">
            <a:r>
              <a:t>- Portfolio_Projects/steam-game-reception/outputs/split_manifest.json</a:t>
            </a:r>
          </a:p>
          <a:p xmlns:a="http://schemas.openxmlformats.org/drawingml/2006/main">
            <a:r>
              <a:t>- Portfolio_Projects/steam-game-reception/outputs/codebook_manifest.json</a:t>
            </a:r>
          </a:p>
          <a:p xmlns:a="http://schemas.openxmlformats.org/drawingml/2006/main">
            <a:r>
              <a:t>- Portfolio_Projects/steam-game-reception/src/verify.py</a:t>
            </a:r>
          </a:p>
          <a:p xmlns:a="http://schemas.openxmlformats.org/drawingml/2006/main">
            <a:r>
              <a:t>- Portfolio_Projects/steam-game-reception/src/test_gate.py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015968b313f40d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064af50aba84921" Type="http://schemas.openxmlformats.org/officeDocument/2006/relationships/theme" Target="theme/theme2.xml"/><Relationship Id="R87eff7185106494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eff718510649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38deae5caff4fb2" Type="http://schemas.openxmlformats.org/officeDocument/2006/relationships/slideLayout" Target="../slideLayouts/slideLayout1.xml"/><Relationship Id="R9259147e8df84e4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543bac9a5324451" Type="http://schemas.openxmlformats.org/officeDocument/2006/relationships/slideLayout" Target="../slideLayouts/slideLayout1.xml"/><Relationship Id="Rd93dbb4bde7344a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861e5c1103c4c8e" Type="http://schemas.openxmlformats.org/officeDocument/2006/relationships/image" Target="../media/image.png"/><Relationship Id="R8f666e85c4814f95" Type="http://schemas.openxmlformats.org/officeDocument/2006/relationships/notesSlide" Target="../notesSlides/notesSlide3.xml"/><Relationship Id="Rc2b080958c5442f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ac1077f81f94b13" Type="http://schemas.openxmlformats.org/officeDocument/2006/relationships/image" Target="../media/image2.png"/><Relationship Id="R4a92b7c08b8d4856" Type="http://schemas.openxmlformats.org/officeDocument/2006/relationships/notesSlide" Target="../notesSlides/notesSlide4.xml"/><Relationship Id="Rdba394ce99734ab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0f2cc5c7ab940e7" Type="http://schemas.openxmlformats.org/officeDocument/2006/relationships/slideLayout" Target="../slideLayouts/slideLayout1.xml"/><Relationship Id="R32af1eb973a446fd" Type="http://schemas.openxmlformats.org/officeDocument/2006/relationships/image" Target="../media/image3.png"/><Relationship Id="R35e0ae3609c1439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c758d9614d941eb" Type="http://schemas.openxmlformats.org/officeDocument/2006/relationships/notesSlide" Target="../notesSlides/notesSlide6.xml"/><Relationship Id="Rc71b30346aab4fdf" Type="http://schemas.openxmlformats.org/officeDocument/2006/relationships/slideLayout" Target="../slideLayouts/slideLayout1.xml"/><Relationship Id="Rfafa88b2c2e943b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3d06a16aba6b4b3a" Type="http://schemas.openxmlformats.org/officeDocument/2006/relationships/notesSlide" Target="../notesSlides/notesSlide7.xml"/><Relationship Id="Ra7a1ca4528f3408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0fa2b34816f348f1" Type="http://schemas.openxmlformats.org/officeDocument/2006/relationships/notesSlide" Target="../notesSlides/notesSlide8.xml"/><Relationship Id="Rc2ea7efa496745b9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486d44f56beb4957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86d44f56beb4957" Type="http://schemas.openxmlformats.org/officeDocument/2006/relationships/slideLayout" Target="../slideLayouts/slideLayout1.xml"/><Relationship Id="R5806080f69a3476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564fa9ca26f544a4" Type="http://schemas.openxmlformats.org/officeDocument/2006/relationships/notesSlide" Target="../notesSlides/notesSlide10.xml"/><Relationship Id="R8d73a19494b54e3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c0425599c9e46aa" Type="http://schemas.openxmlformats.org/officeDocument/2006/relationships/notesSlide" Target="../notesSlides/notesSlide11.xml"/><Relationship Id="Re0c82ea8a8fe4a6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AA9FE-C6FB-4B13-974E-6CB6E638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53C"/>
          </a:solidFill>
          <a:ln xmlns:a="http://schemas.openxmlformats.org/drawingml/2006/main" w="9525">
            <a:solidFill>
              <a:srgbClr val="B455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9455-C8C4-4F55-8005-2C40FAC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53C"/>
                </a:solidFill>
              </a:defRPr>
            </a:pPr>
            <a:r>
              <a:rPr sz="1125" b="1">
                <a:solidFill>
                  <a:srgbClr val="B4553C"/>
                </a:solidFill>
              </a:rPr>
              <a:t>STEAM GAME RECEPTION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D6827-528D-4720-88BD-59E43B9F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9715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F3355"/>
                </a:solidFill>
              </a:defRPr>
            </a:pPr>
            <a:r>
              <a:rPr sz="4200" b="1">
                <a:solidFill>
                  <a:srgbClr val="1F3355"/>
                </a:solidFill>
              </a:rPr>
              <a:t>Most of the instrument failed.</a:t>
            </a:r>
          </a:p>
          <a:p xmlns:a="http://schemas.openxmlformats.org/drawingml/2006/main">
            <a:pPr algn="l">
              <a:defRPr sz="4200" b="1">
                <a:solidFill>
                  <a:srgbClr val="1F3355"/>
                </a:solidFill>
              </a:defRPr>
            </a:pPr>
            <a:r>
              <a:rPr sz="4200" b="1">
                <a:solidFill>
                  <a:srgbClr val="1F3355"/>
                </a:solidFill>
              </a:rPr>
              <a:t>What survived still answers something.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D2B02-7426-4105-A269-DF777A35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6F9E"/>
                </a:solidFill>
              </a:defRPr>
            </a:pPr>
            <a:r>
              <a:rPr sz="1950" b="0">
                <a:solidFill>
                  <a:srgbClr val="2E6F9E"/>
                </a:solidFill>
              </a:rPr>
              <a:t>Three of sixteen categories cleared validation. A case study in sampling, validation, and refusing a convenient finding.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07BD8-424F-45BB-B4B6-05F4F30B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9525">
            <a:solidFill>
              <a:srgbClr val="E7EDF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C3061-A09D-4B08-9336-9B3CA77C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355"/>
                </a:solidFill>
              </a:defRPr>
            </a:pPr>
            <a:r>
              <a:rPr sz="1500" b="1">
                <a:solidFill>
                  <a:srgbClr val="1F3355"/>
                </a:solidFill>
              </a:rPr>
              <a:t>19 simulation games  •  22,796 English reviews  •  3,004 negative reviews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E756-FC9D-4F77-98D9-C570EC72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6F9E"/>
                </a:solidFill>
              </a:defRPr>
            </a:pPr>
            <a:r>
              <a:rPr sz="1275" b="0">
                <a:solidFill>
                  <a:srgbClr val="2E6F9E"/>
                </a:solidFill>
              </a:rPr>
              <a:t>Brenden Andoseh  |  2026</a:t>
            </a:r>
          </a:p>
        </p:txBody>
      </p:sp>
    </p:spTree>
    <p:extLst>
      <p:ext uri="{BB962C8B-B14F-4D97-AF65-F5344CB8AC3E}">
        <p14:creationId xmlns:p14="http://schemas.microsoft.com/office/powerpoint/2010/main" val="1325228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4B4A3-92BF-4F37-97F9-1D546BD3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6EDA0-CD10-4DD9-8B15-E058C2D4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The real question was whether generated stories fail differently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50E1B-D6BE-4333-8FA8-75910F0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Not whether players dislike a game, but whether generation creates a distinct positioning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241A3-A444-4BD3-A5E1-22744F4E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F9E"/>
                </a:solidFill>
              </a:defRPr>
            </a:pPr>
            <a:r>
              <a:rPr sz="1200" b="1">
                <a:solidFill>
                  <a:srgbClr val="2E6F9E"/>
                </a:solidFill>
              </a:rPr>
              <a:t>FAMILIAR FAILURE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100A8-1079-4731-9BED-5B8439F5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19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3355"/>
                </a:solidFill>
              </a:defRPr>
            </a:pPr>
            <a:r>
              <a:rPr sz="2250" b="1">
                <a:solidFill>
                  <a:srgbClr val="1F3355"/>
                </a:solidFill>
              </a:rPr>
              <a:t>Bugs, grind, price, opacity, weak interfaces and shallow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7A98D-C4A6-42C7-834B-0B75B8F0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95475"/>
            <a:ext cx="285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9525">
            <a:solidFill>
              <a:srgbClr val="E7EDF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F7E3C-C3FB-427F-B0E7-02BDB246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52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53C"/>
                </a:solidFill>
              </a:defRPr>
            </a:pPr>
            <a:r>
              <a:rPr sz="1200" b="1">
                <a:solidFill>
                  <a:srgbClr val="B4553C"/>
                </a:solidFill>
              </a:rPr>
              <a:t>DISTINCT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2F9A7-4874-483E-B0A0-89F604BC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24100"/>
            <a:ext cx="419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3355"/>
                </a:solidFill>
              </a:defRPr>
            </a:pPr>
            <a:r>
              <a:rPr sz="2250" b="1">
                <a:solidFill>
                  <a:srgbClr val="1F3355"/>
                </a:solidFill>
              </a:rPr>
              <a:t>Generated content that feels disjointed, impersonal or unearned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04952-9345-4119-B2B0-7448DF67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0439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E3DD"/>
          </a:solidFill>
          <a:ln xmlns:a="http://schemas.openxmlformats.org/drawingml/2006/main" w="9525">
            <a:solidFill>
              <a:srgbClr val="F4E3D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97D02-179F-4942-9F7D-726534E9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53C"/>
                </a:solidFill>
              </a:defRPr>
            </a:pPr>
            <a:r>
              <a:rPr sz="1350" b="1">
                <a:solidFill>
                  <a:srgbClr val="B4553C"/>
                </a:solidFill>
              </a:rPr>
              <a:t>Personal stake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8535A-C37D-4F68-9E90-5899DC1E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38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3355"/>
                </a:solidFill>
              </a:defRPr>
            </a:pPr>
            <a:r>
              <a:rPr sz="1650" b="1">
                <a:solidFill>
                  <a:srgbClr val="1F3355"/>
                </a:solidFill>
              </a:rPr>
              <a:t>I am building a simulation game around generated lives. Motivated reasoning therefore belongs in the method, not in a footnote.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F6EFF-4B3E-40D3-9BF2-F074A2F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4492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CB01D-9C90-44A6-984E-9F9A6438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WHAT WAS ANALYZED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769BE-0B30-406C-BAC8-674993F2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The sample is broad, but every inference is narrow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3D2E3-A178-4791-A2A8-1335B46E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Purposive comparison set; equal-N latest reviews; game-level clustering.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C0FD6-F6FB-4A4E-88EB-8FAD2930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3355"/>
                </a:solidFill>
              </a:defRPr>
            </a:pPr>
            <a:r>
              <a:rPr sz="4050" b="1">
                <a:solidFill>
                  <a:srgbClr val="1F3355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94793-6A78-4085-9DE7-A4454495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F9E"/>
                </a:solidFill>
              </a:defRPr>
            </a:pPr>
            <a:r>
              <a:rPr sz="1350" b="0">
                <a:solidFill>
                  <a:srgbClr val="2E6F9E"/>
                </a:solidFill>
              </a:rPr>
              <a:t>games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2518F-2D42-48FE-914B-F9194E38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F3355"/>
                </a:solidFill>
              </a:defRPr>
            </a:pPr>
            <a:r>
              <a:rPr sz="3750" b="1">
                <a:solidFill>
                  <a:srgbClr val="1F3355"/>
                </a:solidFill>
              </a:rPr>
              <a:t>22,796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586F4-48B0-4528-84E2-BEADC257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F9E"/>
                </a:solidFill>
              </a:defRPr>
            </a:pPr>
            <a:r>
              <a:rPr sz="1350" b="0">
                <a:solidFill>
                  <a:srgbClr val="2E6F9E"/>
                </a:solidFill>
              </a:rPr>
              <a:t>English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E33-C439-4BDE-B91F-C8076683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4553C"/>
                </a:solidFill>
              </a:defRPr>
            </a:pPr>
            <a:r>
              <a:rPr sz="3750" b="1">
                <a:solidFill>
                  <a:srgbClr val="B4553C"/>
                </a:solidFill>
              </a:rPr>
              <a:t>3,004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FEC72-9571-4F19-B836-D93EC19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6F9E"/>
                </a:solidFill>
              </a:defRPr>
            </a:pPr>
            <a:r>
              <a:rPr sz="1350" b="0">
                <a:solidFill>
                  <a:srgbClr val="2E6F9E"/>
                </a:solidFill>
              </a:rPr>
              <a:t>negative reviews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18CAF-1529-42D0-98C2-245CDBF9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192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F9E"/>
                </a:solidFill>
              </a:defRPr>
            </a:pPr>
            <a:r>
              <a:rPr sz="1200" b="1">
                <a:solidFill>
                  <a:srgbClr val="2E6F9E"/>
                </a:solidFill>
              </a:rPr>
              <a:t>Blue = lifetime positive rate   •   Orange = sampled positive rate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1e5c1103c4c8e"/>
          <a:stretch xmlns:a="http://schemas.openxmlformats.org/drawingml/2006/main"/>
        </p:blipFill>
        <p:spPr>
          <a:xfrm xmlns:a="http://schemas.openxmlformats.org/drawingml/2006/main">
            <a:off x="3557854" y="1952625"/>
            <a:ext cx="7705193" cy="4191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9C896-5173-435B-ABB9-76DB1727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53C"/>
                </a:solidFill>
              </a:defRPr>
            </a:pPr>
            <a:r>
              <a:rPr sz="1350" b="1">
                <a:solidFill>
                  <a:srgbClr val="B4553C"/>
                </a:solidFill>
              </a:rPr>
              <a:t>The sample is not a population estimate.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9E3BC-EEBA-45FF-A346-C9FBDB68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713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1077f81f94b13"/>
          <a:stretch xmlns:a="http://schemas.openxmlformats.org/drawingml/2006/main"/>
        </p:blipFill>
        <p:spPr>
          <a:xfrm xmlns:a="http://schemas.openxmlformats.org/drawingml/2006/main">
            <a:off x="132522" y="0"/>
            <a:ext cx="1192695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55B62-89E2-4F78-A98A-DEE4FB4C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7188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f1eb973a446fd"/>
          <a:stretch xmlns:a="http://schemas.openxmlformats.org/drawingml/2006/main"/>
        </p:blipFill>
        <p:spPr>
          <a:xfrm xmlns:a="http://schemas.openxmlformats.org/drawingml/2006/main">
            <a:off x="0" y="76200"/>
            <a:ext cx="12192000" cy="6705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4CB14-50B3-428B-956C-CB6C91D6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5703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55ED1-6129-46A4-ADAF-A5005D4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SAMPLING TRAP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40BDB-19F4-4A0D-8A6A-821CA66F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Thousands of reviews still mean only 3 to 7 games per sub-genre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98B0-05AE-4789-9679-71150F5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Unit: game. Pooled review-level tests would be badly overconfident and are not run.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a88b2c2e943b3"/>
          <a:stretch xmlns:a="http://schemas.openxmlformats.org/drawingml/2006/main"/>
        </p:blipFill>
        <p:spPr>
          <a:xfrm xmlns:a="http://schemas.openxmlformats.org/drawingml/2006/main">
            <a:off x="885299" y="1638300"/>
            <a:ext cx="10421402" cy="4591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384F6-BE16-42B3-A909-0DD82CAD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0223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1EF76-BA30-4C78-8C6D-40C964E5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INSTRUMENT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C2F00-7774-4E4A-98FD-EB68E1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My own coding confirms the codebook fails where meaning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FE1E7-4B18-4082-ABBF-BE1B1675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Rule output compared against my hand-coding of all 150 held-out reviews.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10279-69F8-4591-95EA-F3FC5F5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3DD"/>
          </a:solidFill>
          <a:ln xmlns:a="http://schemas.openxmlformats.org/drawingml/2006/main" w="9525">
            <a:solidFill>
              <a:srgbClr val="F4E3D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572D4-5DBF-4B60-AAEA-DFBC925A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53C"/>
                </a:solidFill>
              </a:defRPr>
            </a:pPr>
            <a:r>
              <a:rPr sz="1350" b="1">
                <a:solidFill>
                  <a:srgbClr val="B4553C"/>
                </a:solidFill>
              </a:rPr>
              <a:t>Nine of sixteen categories have enough examples on both sides to judge. The other seven are too thin to call.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143000"/>
                <a:gridCol w="1143000"/>
                <a:gridCol w="1238250"/>
                <a:gridCol w="1143000"/>
                <a:gridCol w="1047750"/>
                <a:gridCol w="1333500"/>
              </a:tblGrid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91440" marR="91440" marT="45720" marB="4572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Rule found</a:t>
                      </a:r>
                    </a:p>
                  </a:txBody>
                  <a:tcPr marL="91440" marR="91440" marT="45720" marB="4572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 coded</a:t>
                      </a:r>
                    </a:p>
                  </a:txBody>
                  <a:tcPr marL="91440" marR="91440" marT="45720" marB="4572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Combined</a:t>
                      </a:r>
                    </a:p>
                  </a:txBody>
                  <a:tcPr marL="91440" marR="91440" marT="45720" marB="4572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 marL="91440" marR="91440" marT="45720" marB="45720">
                    <a:solidFill>
                      <a:srgbClr val="1F335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355"/>
                          </a:solidFill>
                        </a:rPr>
                        <a:t>Bugs and crashes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0.632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0.706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usable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355"/>
                          </a:solidFill>
                        </a:rPr>
                        <a:t>Systems never explained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0.600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usable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355"/>
                          </a:solidFill>
                        </a:rPr>
                        <a:t>Grind and tedium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usable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355"/>
                          </a:solidFill>
                        </a:rPr>
                        <a:t>Lacks depth or variety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0.857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0.273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0.414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usable</a:t>
                      </a:r>
                    </a:p>
                  </a:txBody>
                  <a:tcPr marL="91440" marR="91440" marT="45720" marB="45720">
                    <a:solidFill>
                      <a:srgbClr val="E7EDF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4553C"/>
                          </a:solidFill>
                        </a:rPr>
                        <a:t>Character behaviour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0.158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53C"/>
                          </a:solidFill>
                        </a:rPr>
                        <a:t>0.240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thin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4553C"/>
                          </a:solidFill>
                        </a:rPr>
                        <a:t>Generated content feels hollow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0.250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0.111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53C"/>
                          </a:solidFill>
                        </a:rPr>
                        <a:t>0.154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thin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4553C"/>
                          </a:solidFill>
                        </a:rPr>
                        <a:t>Outcomes feel arbitrary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53C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3355"/>
                          </a:solidFill>
                        </a:rPr>
                        <a:t>thin</a:t>
                      </a:r>
                    </a:p>
                  </a:txBody>
                  <a:tcPr marL="91440" marR="91440" marT="45720" marB="45720">
                    <a:solidFill>
                      <a:srgbClr val="F4E3D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7FD11-CA02-4326-B9F8-9C33E0D6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9141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FDC44-31E0-4A2D-A446-9243ECE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CORE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54DED-5900-4D96-AE60-2DFBF0D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The generated-content rule found one real case and missed eight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FBC05-14E9-4E84-8ECB-80739B9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The keyword concentration cannot be read as evidence about what reviewers meant.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ADD6A-8AAA-476E-8568-2B597D5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2E6F9E"/>
                </a:solidFill>
              </a:defRPr>
            </a:pPr>
            <a:r>
              <a:rPr sz="6150" b="1">
                <a:solidFill>
                  <a:srgbClr val="2E6F9E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045AE-04AF-419A-8A58-3995F6D3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3355"/>
                </a:solidFill>
              </a:defRPr>
            </a:pPr>
            <a:r>
              <a:rPr sz="1350" b="1">
                <a:solidFill>
                  <a:srgbClr val="1F3355"/>
                </a:solidFill>
              </a:rPr>
              <a:t>found correctly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6707C-000B-4F09-B3A1-9716C6E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B4553C"/>
                </a:solidFill>
              </a:defRPr>
            </a:pPr>
            <a:r>
              <a:rPr sz="6150" b="1">
                <a:solidFill>
                  <a:srgbClr val="B4553C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070C-738D-4D14-A6D9-74A8C77D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9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3355"/>
                </a:solidFill>
              </a:defRPr>
            </a:pPr>
            <a:r>
              <a:rPr sz="1350" b="1">
                <a:solidFill>
                  <a:srgbClr val="1F3355"/>
                </a:solidFill>
              </a:rPr>
              <a:t>wrongly flagged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1A18D-719E-49C7-84D4-7EB6D5A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B4553C"/>
                </a:solidFill>
              </a:defRPr>
            </a:pPr>
            <a:r>
              <a:rPr sz="6150" b="1">
                <a:solidFill>
                  <a:srgbClr val="B4553C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C69A8-CD99-4B81-B625-CEA0C7E8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3355"/>
                </a:solidFill>
              </a:defRPr>
            </a:pPr>
            <a:r>
              <a:rPr sz="1350" b="1">
                <a:solidFill>
                  <a:srgbClr val="1F3355"/>
                </a:solidFill>
              </a:rPr>
              <a:t>missed entirely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19029-8232-4645-8A06-F182E3AE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3238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4E3DD"/>
          </a:solidFill>
          <a:ln xmlns:a="http://schemas.openxmlformats.org/drawingml/2006/main" w="9525">
            <a:solidFill>
              <a:srgbClr val="F4E3D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7C228-D40C-468D-840F-13644424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2524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4553C"/>
                </a:solidFill>
              </a:defRPr>
            </a:pPr>
            <a:r>
              <a:rPr sz="3600" b="1">
                <a:solidFill>
                  <a:srgbClr val="B4553C"/>
                </a:solidFill>
              </a:rPr>
              <a:t>0.15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E9FA0-D52E-43FD-A179-381525D9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3355"/>
                </a:solidFill>
              </a:defRPr>
            </a:pPr>
            <a:r>
              <a:rPr sz="1200" b="1">
                <a:solidFill>
                  <a:srgbClr val="1F3355"/>
                </a:solidFill>
              </a:rPr>
              <a:t>combined score out of 1.0; too few cases to be conclusive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4D438-995E-4F9F-A4FC-AAF125A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115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9525">
            <a:solidFill>
              <a:srgbClr val="E7EDF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73F86-8A81-4A03-BC6D-C594C05A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F9E"/>
                </a:solidFill>
              </a:defRPr>
            </a:pPr>
            <a:r>
              <a:rPr sz="1350" b="1">
                <a:solidFill>
                  <a:srgbClr val="2E6F9E"/>
                </a:solidFill>
              </a:rPr>
              <a:t>What 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69E84-C1DF-493A-8866-693B71EB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3355"/>
                </a:solidFill>
              </a:defRPr>
            </a:pPr>
            <a:r>
              <a:rPr sz="1725" b="1">
                <a:solidFill>
                  <a:srgbClr val="1F3355"/>
                </a:solidFill>
              </a:rPr>
              <a:t>• The rule is rejected as a way of measuring meaning.</a:t>
            </a:r>
          </a:p>
          <a:p xmlns:a="http://schemas.openxmlformats.org/drawingml/2006/main">
            <a:pPr algn="l">
              <a:defRPr sz="1725" b="1">
                <a:solidFill>
                  <a:srgbClr val="1F3355"/>
                </a:solidFill>
              </a:defRPr>
            </a:pPr>
            <a:r>
              <a:rPr sz="1725" b="1">
                <a:solidFill>
                  <a:srgbClr val="1F3355"/>
                </a:solidFill>
              </a:rPr>
              <a:t>• Per-game rates show where keywords fired, not what players meant.</a:t>
            </a:r>
          </a:p>
          <a:p xmlns:a="http://schemas.openxmlformats.org/drawingml/2006/main">
            <a:pPr algn="l">
              <a:defRPr sz="1725" b="1">
                <a:solidFill>
                  <a:srgbClr val="1F3355"/>
                </a:solidFill>
              </a:defRPr>
            </a:pPr>
            <a:r>
              <a:rPr sz="1725" b="1">
                <a:solidFill>
                  <a:srgbClr val="1F3355"/>
                </a:solidFill>
              </a:rPr>
              <a:t>• No positioning conclusion survives version 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62CCE-EC3F-4A0C-8CE0-3B76B28D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90472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8D76C-BEF7-4CD9-B54E-73A4E0E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WHY IT FAILED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9EEB-E4F7-4573-950C-54D39204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The rules matched subjects, and missed how people actually complain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9FB2E-3878-4307-8EC6-2FFEAB6F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Two separate failures. Only one of them can be fixed by writing better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D7528-ABBF-41ED-B61C-11F143F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E6F9E"/>
                </a:solidFill>
              </a:defRPr>
            </a:pPr>
            <a:r>
              <a:rPr sz="4950" b="1">
                <a:solidFill>
                  <a:srgbClr val="2E6F9E"/>
                </a:solidFill>
              </a:rPr>
              <a:t>31 of 150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5E172-5261-45C7-92E0-B6F858EA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3355"/>
                </a:solidFill>
              </a:defRPr>
            </a:pPr>
            <a:r>
              <a:rPr sz="1425" b="1">
                <a:solidFill>
                  <a:srgbClr val="1F3355"/>
                </a:solidFill>
              </a:rPr>
              <a:t>reviews matched no rule at 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E4221-2938-40B6-A6E9-8F555E69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B4553C"/>
                </a:solidFill>
              </a:defRPr>
            </a:pPr>
            <a:r>
              <a:rPr sz="4950" b="1">
                <a:solidFill>
                  <a:srgbClr val="B4553C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AF1A3-E58D-48CD-BADA-6572FEDB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3355"/>
                </a:solidFill>
              </a:defRPr>
            </a:pPr>
            <a:r>
              <a:rPr sz="1425" b="1">
                <a:solidFill>
                  <a:srgbClr val="1F3355"/>
                </a:solidFill>
              </a:rPr>
              <a:t>patterns never once fired correctly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AD4EE-516A-4E45-9C64-CB36869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B4553C"/>
                </a:solidFill>
              </a:defRPr>
            </a:pPr>
            <a:r>
              <a:rPr sz="4950" b="1">
                <a:solidFill>
                  <a:srgbClr val="B4553C"/>
                </a:solidFill>
              </a:rPr>
              <a:t>32 of 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059CE-04A7-4F8A-B226-7D805B12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3355"/>
                </a:solidFill>
              </a:defRPr>
            </a:pPr>
            <a:r>
              <a:rPr sz="1425" b="1">
                <a:solidFill>
                  <a:srgbClr val="1F3355"/>
                </a:solidFill>
              </a:rPr>
              <a:t>depth complaints the rules missed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96775-9E23-44FA-99C8-ACD9FFFC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0382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3DD"/>
          </a:solidFill>
          <a:ln xmlns:a="http://schemas.openxmlformats.org/drawingml/2006/main" w="9525">
            <a:solidFill>
              <a:srgbClr val="F4E3D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D3F1D-D08F-4DAF-89C3-3052BBCA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53C"/>
                </a:solidFill>
              </a:defRPr>
            </a:pPr>
            <a:r>
              <a:rPr sz="1350" b="1">
                <a:solidFill>
                  <a:srgbClr val="B4553C"/>
                </a:solidFill>
              </a:rPr>
              <a:t>The clearest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192CF-2380-44EA-8B6C-37E069BB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86225"/>
            <a:ext cx="701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3355"/>
                </a:solidFill>
              </a:defRPr>
            </a:pPr>
            <a:r>
              <a:rPr sz="1725" b="1">
                <a:solidFill>
                  <a:srgbClr val="1F3355"/>
                </a:solidFill>
              </a:rPr>
              <a:t>The word “random” fired 11 times and I agreed with none of them. In these reviews it means “randomly generated”, not “unfair”.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F8426-CE28-4860-AFCD-FA2E6674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355"/>
                </a:solidFill>
              </a:defRPr>
            </a:pPr>
            <a:r>
              <a:rPr sz="1500" b="1">
                <a:solidFill>
                  <a:srgbClr val="1F3355"/>
                </a:solidFill>
              </a:rPr>
              <a:t>Matching the wrong word is fixable. Missing the words people actually use is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E1F14-CA5F-472D-A2BC-1FDAF574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2741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8D76C-BEF7-4CD9-B54E-73A4E0E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INDEPENDENT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9EEB-E4F7-4573-950C-54D39204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A second reader disagreed with me on half of the 30 checked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9FB2E-3878-4307-8EC6-2FFEAB6F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This sets a realistic ceiling: careful readers agree about half the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D7528-ABBF-41ED-B61C-11F143F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2E6F9E"/>
                </a:solidFill>
              </a:defRPr>
            </a:pPr>
            <a:r>
              <a:rPr sz="4950" b="1">
                <a:solidFill>
                  <a:srgbClr val="2E6F9E"/>
                </a:solidFill>
              </a:rPr>
              <a:t>15 /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5E172-5261-45C7-92E0-B6F858EA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3355"/>
                </a:solidFill>
              </a:defRPr>
            </a:pPr>
            <a:r>
              <a:rPr sz="1425" b="1">
                <a:solidFill>
                  <a:srgbClr val="1F3355"/>
                </a:solidFill>
              </a:rPr>
              <a:t>identical labels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E4221-2938-40B6-A6E9-8F555E69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B4553C"/>
                </a:solidFill>
              </a:defRPr>
            </a:pPr>
            <a:r>
              <a:rPr sz="4950" b="1">
                <a:solidFill>
                  <a:srgbClr val="B4553C"/>
                </a:solidFill>
              </a:rPr>
              <a:t>50.0%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AF1A3-E58D-48CD-BADA-6572FEDB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3355"/>
                </a:solidFill>
              </a:defRPr>
            </a:pPr>
            <a:r>
              <a:rPr sz="1425" b="1">
                <a:solidFill>
                  <a:srgbClr val="1F3355"/>
                </a:solidFill>
              </a:rPr>
              <a:t>of rows disagreed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AD4EE-516A-4E45-9C64-CB36869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B4553C"/>
                </a:solidFill>
              </a:defRPr>
            </a:pPr>
            <a:r>
              <a:rPr sz="4950" b="1">
                <a:solidFill>
                  <a:srgbClr val="B4553C"/>
                </a:solidFill>
              </a:rPr>
              <a:t>0.588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059CE-04A7-4F8A-B226-7D805B12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3355"/>
                </a:solidFill>
              </a:defRPr>
            </a:pPr>
            <a:r>
              <a:rPr sz="1425" b="1">
                <a:solidFill>
                  <a:srgbClr val="1F3355"/>
                </a:solidFill>
              </a:rPr>
              <a:t>overlap in labels 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96775-9E23-44FA-99C8-ACD9FFFC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10382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3DD"/>
          </a:solidFill>
          <a:ln xmlns:a="http://schemas.openxmlformats.org/drawingml/2006/main" w="9525">
            <a:solidFill>
              <a:srgbClr val="F4E3D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D3F1D-D08F-4DAF-89C3-3052BBCA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53C"/>
                </a:solidFill>
              </a:defRPr>
            </a:pPr>
            <a:r>
              <a:rPr sz="1350" b="1">
                <a:solidFill>
                  <a:srgbClr val="B4553C"/>
                </a:solidFill>
              </a:rPr>
              <a:t>Biggest disagreement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192CF-2380-44EA-8B6C-37E069BB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86225"/>
            <a:ext cx="701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3355"/>
                </a:solidFill>
              </a:defRPr>
            </a:pPr>
            <a:r>
              <a:rPr sz="1725" b="1">
                <a:solidFill>
                  <a:srgbClr val="1F3355"/>
                </a:solidFill>
              </a:rPr>
              <a:t>Grind complaints: I coded 1 of the 30 rows, the second reader coded 6.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F8426-CE28-4860-AFCD-FA2E6674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355"/>
                </a:solidFill>
              </a:defRPr>
            </a:pPr>
            <a:r>
              <a:rPr sz="1500" b="1">
                <a:solidFill>
                  <a:srgbClr val="1F3355"/>
                </a:solidFill>
              </a:rPr>
              <a:t>Thirty rows, and the second reader is an AI, not a second analyst. Read it as a rough ceiling, not as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E1F14-CA5F-472D-A2BC-1FDAF574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82741739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2852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4553C"/>
                </a:solidFill>
              </a:rPr>
              <a:t>WHAT SURVIVED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50" b="1">
                <a:solidFill>
                  <a:srgbClr val="1F3355"/>
                </a:solidFill>
              </a:rPr>
              <a:t>Three categories held up, and they name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33856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E6F9E"/>
                </a:solidFill>
              </a:rPr>
              <a:t>Only bugs, grind and interface cleared validation. Unit is the game; rates understate, so read this as a ranking rather than levels.</a:t>
            </a:r>
          </a:p>
        </p:txBody>
      </p:sp>
      <p:pic>
        <p:nvPicPr>
          <p:cNvPr id="5" name="Picture 4" descr="05b_supported_finding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0469880" cy="4187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7607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6F9E"/>
                </a:solidFill>
              </a:rPr>
              <a:t>BUGS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F3355"/>
                </a:solidFill>
              </a:rPr>
              <a:t>Flat across all four shelves (1.2x).</a:t>
            </a:r>
          </a:p>
          <a:p>
            <a:r>
              <a:rPr sz="1350" b="1">
                <a:solidFill>
                  <a:srgbClr val="1F3355"/>
                </a:solidFill>
              </a:rPr>
              <a:t>The price of entry, not a lever.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57607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53C"/>
                </a:solidFill>
              </a:rPr>
              <a:t>GRIND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035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F3355"/>
                </a:solidFill>
              </a:rPr>
              <a:t>3.0x worse in life sims (27% vs 9%).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7607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53C"/>
                </a:solidFill>
              </a:rP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60350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F3355"/>
                </a:solidFill>
              </a:rPr>
              <a:t>2.6x worse in emergent narrative.</a:t>
            </a:r>
          </a:p>
          <a:p>
            <a:r>
              <a:rPr sz="1350" b="1">
                <a:solidFill>
                  <a:srgbClr val="1F3355"/>
                </a:solidFill>
              </a:rPr>
              <a:t>Depth brings opacity.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2528" y="6419088"/>
            <a:ext cx="6492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6F9E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03405-67AE-42C8-8676-9F08F703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EFF1-A730-4A13-8381-936C667F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Most of the instrument failed. What survived still answers something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D4290-D6BE-4690-BAD0-D00556BD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What this work establishes, and what it still cannot.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E06B3-DB8B-4E95-B16E-7561B2E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F9E"/>
                </a:solidFill>
              </a:defRPr>
            </a:pPr>
            <a:r>
              <a:rPr sz="1275" b="1">
                <a:solidFill>
                  <a:srgbClr val="2E6F9E"/>
                </a:solidFill>
              </a:rPr>
              <a:t>ESTABLISHED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448A9-9EB5-4A4D-A19A-0B9679F2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3355"/>
                </a:solidFill>
              </a:defRPr>
            </a:pPr>
            <a:r>
              <a:rPr sz="2025" b="1">
                <a:solidFill>
                  <a:srgbClr val="1F3355"/>
                </a:solidFill>
              </a:rPr>
              <a:t>Sampling traps are measured</a:t>
            </a:r>
          </a:p>
          <a:p xmlns:a="http://schemas.openxmlformats.org/drawingml/2006/main">
            <a:r>
              <a:t>Codebook v1 is unreliable, and by how much</a:t>
            </a:r>
          </a:p>
          <a:p xmlns:a="http://schemas.openxmlformats.org/drawingml/2006/main">
            <a:pPr algn="l">
              <a:defRPr sz="2025" b="1">
                <a:solidFill>
                  <a:srgbClr val="1F3355"/>
                </a:solidFill>
              </a:defRPr>
            </a:pPr>
            <a:r>
              <a:rPr sz="2025" b="1">
                <a:solidFill>
                  <a:srgbClr val="1F3355"/>
                </a:solidFill>
              </a:rPr>
              <a:t>Sub-genre differences for the 3 validated categories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1F3355"/>
                </a:solidFill>
              </a:defRPr>
            </a:pPr>
            <a:r>
              <a:rPr sz="2025" b="1">
                <a:solidFill>
                  <a:srgbClr val="1F3355"/>
                </a:solidFill>
              </a:rPr>
              <a:t>Freezing and blinding stopped any rescue after the 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A25E5-D193-43F7-9BCC-947A73B8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43100"/>
            <a:ext cx="285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9525">
            <a:solidFill>
              <a:srgbClr val="E7EDF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3082D-4C6C-4DA8-A051-19FA7B15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53C"/>
                </a:solidFill>
              </a:defRPr>
            </a:pPr>
            <a:r>
              <a:rPr sz="1275" b="1">
                <a:solidFill>
                  <a:srgbClr val="B4553C"/>
                </a:solidFill>
              </a:rPr>
              <a:t>NOT ESTABLISHED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5AC65-E309-4405-B6B3-7D5F85A0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553C"/>
                </a:solidFill>
              </a:defRPr>
            </a:pPr>
            <a:r>
              <a:rPr sz="2025" b="1">
                <a:solidFill>
                  <a:srgbClr val="B4553C"/>
                </a:solidFill>
              </a:rPr>
              <a:t>Prevalence for the 13 failed categories</a:t>
            </a:r>
          </a:p>
          <a:p xmlns:a="http://schemas.openxmlformats.org/drawingml/2006/main">
            <a:r>
              <a:t>Whether generation draws a distinct complaint</a:t>
            </a:r>
          </a:p>
          <a:p xmlns:a="http://schemas.openxmlformats.org/drawingml/2006/main">
            <a:pPr algn="l">
              <a:defRPr sz="2025" b="1">
                <a:solidFill>
                  <a:srgbClr val="B4553C"/>
                </a:solidFill>
              </a:defRPr>
            </a:pPr>
            <a:r>
              <a:rPr sz="2025" b="1">
                <a:solidFill>
                  <a:srgbClr val="B4553C"/>
                </a:solidFill>
              </a:rPr>
              <a:t>Anything resting on the failed categories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>
                <a:solidFill>
                  <a:srgbClr val="B4553C"/>
                </a:solidFill>
              </a:defRPr>
            </a:pPr>
            <a:r>
              <a:rPr sz="2025" b="1">
                <a:solidFill>
                  <a:srgbClr val="B4553C"/>
                </a:solidFill>
              </a:rPr>
              <a:t>Positioning guidance beyond those three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D9349-0735-44E2-AECA-90790E57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F3355"/>
          </a:solidFill>
          <a:ln xmlns:a="http://schemas.openxmlformats.org/drawingml/2006/main" w="9525">
            <a:solidFill>
              <a:srgbClr val="1F33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A261E-D7A8-4065-AB5B-1DF38CE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9117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550" b="1">
                <a:solidFill>
                  <a:srgbClr val="FFFFFF"/>
                </a:solidFill>
              </a:rPr>
              <a:t>Thirteen categories failed. The three that held up say the shelf picks the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DB891-7E53-40DA-B880-67E5D9C9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34390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A8BBC-052B-40A7-A7D4-C4330C29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53C"/>
                </a:solidFill>
              </a:defRPr>
            </a:pPr>
            <a:r>
              <a:rPr sz="1050" b="1">
                <a:solidFill>
                  <a:srgbClr val="B4553C"/>
                </a:solidFill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15BE4-97B2-4CF8-8E4C-EE2DAD1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3355"/>
                </a:solidFill>
              </a:defRPr>
            </a:pPr>
            <a:r>
              <a:rPr sz="2850" b="1">
                <a:solidFill>
                  <a:srgbClr val="1F3355"/>
                </a:solidFill>
              </a:rPr>
              <a:t>The protocol made the failure visible before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8318E-A678-4818-905D-17F998CA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E6F9E"/>
                </a:solidFill>
              </a:defRPr>
            </a:pPr>
            <a:r>
              <a:rPr sz="1500" b="0">
                <a:solidFill>
                  <a:srgbClr val="2E6F9E"/>
                </a:solidFill>
              </a:rPr>
              <a:t>Appendix: each phase leaves a frozen, verifiable artifact.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A87E9-BFF1-4B15-8C18-EF295697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22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9525">
            <a:solidFill>
              <a:srgbClr val="E7EDF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0A20B-F5FB-40BA-8277-5F88FF6C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9560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B879A-2D25-4547-8B2F-4D4F917F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61146-8110-425D-A20E-F5A893AD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9E"/>
                </a:solidFill>
              </a:defRPr>
            </a:pPr>
            <a:r>
              <a:rPr sz="1500" b="1">
                <a:solidFill>
                  <a:srgbClr val="2E6F9E"/>
                </a:solidFill>
              </a:rPr>
              <a:t>Pull + reconcile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7B2A0-7575-4536-A39D-FA1652C6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3355"/>
                </a:solidFill>
              </a:defRPr>
            </a:pPr>
            <a:r>
              <a:rPr sz="1275" b="1">
                <a:solidFill>
                  <a:srgbClr val="1F3355"/>
                </a:solidFill>
              </a:rPr>
              <a:t>API responses cached; denominators checked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F8FB8-6945-4E39-9C2D-6E9374D4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9560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CEED6-6416-4E30-BA84-B9C7E55E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75349-6359-4BFB-A0D9-8CA89386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90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9E"/>
                </a:solidFill>
              </a:defRPr>
            </a:pPr>
            <a:r>
              <a:rPr sz="1500" b="1">
                <a:solidFill>
                  <a:srgbClr val="2E6F9E"/>
                </a:solidFill>
              </a:rPr>
              <a:t>Pre-commit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642FC-98F7-46A7-8428-B33FCB0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3355"/>
                </a:solidFill>
              </a:defRPr>
            </a:pPr>
            <a:r>
              <a:rPr sz="1275" b="1">
                <a:solidFill>
                  <a:srgbClr val="1F3355"/>
                </a:solidFill>
              </a:rPr>
              <a:t>Discovery and held-out IDs fixed before reading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376F1-A6F4-48CE-856E-13D33F26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84A38-4FE2-4086-AC73-958AC59C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92256-2D4A-4886-AD59-26F9D360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90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6F9E"/>
                </a:solidFill>
              </a:defRPr>
            </a:pPr>
            <a:r>
              <a:rPr sz="1500" b="1">
                <a:solidFill>
                  <a:srgbClr val="2E6F9E"/>
                </a:solidFill>
              </a:rPr>
              <a:t>Freeze v1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8C2F3-1696-497E-B0EC-4E376C6E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3355"/>
                </a:solidFill>
              </a:defRPr>
            </a:pPr>
            <a:r>
              <a:rPr sz="1275" b="1">
                <a:solidFill>
                  <a:srgbClr val="1F3355"/>
                </a:solidFill>
              </a:rPr>
              <a:t>Rules cannot be patched after seeing failures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BC20A-2F10-4CD0-B9D5-2B8E5473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5715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53C"/>
          </a:solidFill>
          <a:ln xmlns:a="http://schemas.openxmlformats.org/drawingml/2006/main" w="9525">
            <a:solidFill>
              <a:srgbClr val="B4553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0DE40-FAEC-4D2C-AD5F-728CD1F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8D69B4-4F44-4AE5-8CEF-538B2C5F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90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553C"/>
                </a:solidFill>
              </a:defRPr>
            </a:pPr>
            <a:r>
              <a:rPr sz="1500" b="1">
                <a:solidFill>
                  <a:srgbClr val="B4553C"/>
                </a:solidFill>
              </a:rPr>
              <a:t>My own 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67B97-2364-4831-8745-31CA4126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38625"/>
            <a:ext cx="1943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3355"/>
                </a:solidFill>
              </a:defRPr>
            </a:pPr>
            <a:r>
              <a:rPr sz="1275" b="1">
                <a:solidFill>
                  <a:srgbClr val="1F3355"/>
                </a:solidFill>
              </a:rPr>
              <a:t>Complete: 150 reviews coded blind, on full 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DC1CE-EB87-4B15-917B-4F76B19F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39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E3DD"/>
          </a:solidFill>
          <a:ln xmlns:a="http://schemas.openxmlformats.org/drawingml/2006/main" w="9525">
            <a:solidFill>
              <a:srgbClr val="F4E3D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DEFBB-29D7-46DD-A19F-4A0BFC49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864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53C"/>
                </a:solidFill>
              </a:defRPr>
            </a:pPr>
            <a:r>
              <a:rPr sz="1350" b="1">
                <a:solidFill>
                  <a:srgbClr val="B4553C"/>
                </a:solidFill>
              </a:rPr>
              <a:t>A manifest no one verifies is not a freeze. The verifier fails closed on every required manifest.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8435C-A6FB-4648-8061-276BD506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E6F9E"/>
                </a:solidFill>
              </a:defRPr>
            </a:pPr>
            <a:r>
              <a:rPr sz="900" b="1">
                <a:solidFill>
                  <a:srgbClr val="2E6F9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8741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2026-08-02T17:41:02.0450000Z</dcterms:created>
  <dcterms:modified xsi:type="dcterms:W3CDTF">2026-08-02T17:41:02.0450000Z</dcterms:modified>
</coreProperties>
</file>